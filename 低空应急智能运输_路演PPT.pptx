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1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5965" y="83947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PingFang SC"/>
              </a:rPr>
              <a:t>智慧低空应急运输
教学平台</a:t>
            </a:r>
            <a:endParaRPr sz="54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00E5FF"/>
                </a:solidFill>
                <a:latin typeface="PingFang SC"/>
              </a:rPr>
              <a:t>AI × 无人机 · 路径规划 · 装箱优化 · 岗课赛证</a:t>
            </a:r>
            <a:endParaRPr sz="2200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</a:pPr>
            <a:r>
              <a:rPr sz="1500">
                <a:solidFill>
                  <a:srgbClr val="CCD6E0"/>
                </a:solidFill>
                <a:latin typeface="PingFang SC"/>
              </a:rPr>
              <a:t>面向高职/本科 · 无人机物流 / 应急物流 / 智慧物流 专业</a:t>
            </a:r>
            <a:endParaRPr sz="15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CCD6E0"/>
                </a:solidFill>
                <a:latin typeface="PingFang SC"/>
              </a:rPr>
              <a:t>把「低空经济 + AI + 应急」搬进课堂，做可落地的工程化实训</a:t>
            </a:r>
            <a:endParaRPr sz="15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5965" y="549275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FFB300"/>
                </a:solidFill>
                <a:latin typeface="Menlo" panose="020B0609030804020204"/>
              </a:rPr>
              <a:t>教学平台</a:t>
            </a:r>
            <a:endParaRPr sz="1200" b="0">
              <a:solidFill>
                <a:srgbClr val="FFB300"/>
              </a:solidFill>
              <a:latin typeface="Menlo" panose="020B0609030804020204"/>
            </a:endParaRPr>
          </a:p>
          <a:p>
            <a:pPr>
              <a:spcBef>
                <a:spcPts val="0"/>
              </a:spcBef>
            </a:pPr>
            <a:r>
              <a:rPr sz="1200" b="0">
                <a:solidFill>
                  <a:srgbClr val="FFB300"/>
                </a:solidFill>
                <a:latin typeface="Menlo" panose="020B0609030804020204"/>
              </a:rPr>
              <a:t>· AI 智能体</a:t>
            </a:r>
            <a:endParaRPr sz="1200" b="0">
              <a:solidFill>
                <a:srgbClr val="FFB300"/>
              </a:solidFill>
              <a:latin typeface="Menlo" panose="020B0609030804020204"/>
            </a:endParaRPr>
          </a:p>
          <a:p>
            <a:pPr>
              <a:spcBef>
                <a:spcPts val="0"/>
              </a:spcBef>
            </a:pPr>
            <a:r>
              <a:rPr sz="1200" b="0">
                <a:solidFill>
                  <a:srgbClr val="FFB300"/>
                </a:solidFill>
                <a:latin typeface="Menlo" panose="020B0609030804020204"/>
              </a:rPr>
              <a:t>· 岗课赛证</a:t>
            </a:r>
            <a:endParaRPr sz="1200" b="0">
              <a:solidFill>
                <a:srgbClr val="FFB300"/>
              </a:solidFill>
              <a:latin typeface="Menlo" panose="020B0609030804020204"/>
            </a:endParaRPr>
          </a:p>
          <a:p>
            <a:r>
              <a:rPr sz="1200" b="1">
                <a:solidFill>
                  <a:srgbClr val="FFB300"/>
                </a:solidFill>
                <a:latin typeface="Menlo" panose="020B0609030804020204"/>
              </a:rPr>
              <a:t>· 案例：渠洋村应急物资配送</a:t>
            </a:r>
            <a:endParaRPr sz="1200" b="1">
              <a:solidFill>
                <a:srgbClr val="FFB300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</a:rPr>
              <a:t>痛点 · 为什么要做</a:t>
            </a:r>
            <a:endParaRPr sz="3200" b="1">
              <a:solidFill>
                <a:srgbClr val="FFFFFF"/>
              </a:solidFill>
              <a:latin typeface="PingFang SC"/>
            </a:endParaRP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E5FF"/>
                </a:solidFill>
                <a:latin typeface="PingFang SC"/>
              </a:rPr>
              <a:t>从真实应急救灾场景出发</a:t>
            </a:r>
            <a:endParaRPr sz="1300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743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329184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3152" cy="329184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3346704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应急物流不只是「送过去」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灾区路毁、桥梁断，地面运输卡死。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传统课堂只教理论，没有真实约束。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学生不知道一架无人机飞几趟、带多少。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657600" cy="329184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554480"/>
            <a:ext cx="73152" cy="32918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664208"/>
            <a:ext cx="3346704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低空经济的人才缺口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2025 年低空经济规模破 2 万亿。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无人机物流 / 应急岗位爆发。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但学校没有可实操的路径规划平台。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49640" y="1554480"/>
            <a:ext cx="3657600" cy="329184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1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554480"/>
            <a:ext cx="73152" cy="3291840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664208"/>
            <a:ext cx="3346704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AI 只是噱头？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不是！让 AI 当「实训助理 + 诊断老师」。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蚁群算法 CVRP + 动态能耗模型。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学生先做题，AI 再点评和打分。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2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</a:rPr>
              <a:t>平台是什么</a:t>
            </a:r>
            <a:endParaRPr sz="3200" b="1">
              <a:solidFill>
                <a:srgbClr val="FFFFFF"/>
              </a:solidFill>
              <a:latin typeface="PingFang SC"/>
            </a:endParaRP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E5FF"/>
                </a:solidFill>
                <a:latin typeface="PingFang SC"/>
              </a:rPr>
              <a:t>一个教学平台 + 三个独立 AI 智能体</a:t>
            </a:r>
            <a:endParaRPr sz="1300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743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E5FF"/>
                </a:solidFill>
                <a:latin typeface="PingFang SC"/>
              </a:rPr>
              <a:t>智慧低空应急运输教学平台</a:t>
            </a:r>
            <a:endParaRPr sz="2000" b="1">
              <a:solidFill>
                <a:srgbClr val="00E5FF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首页驾驶舱（ECharts 数据大屏）</a:t>
            </a:r>
            <a:endParaRPr sz="1400">
              <a:solidFill>
                <a:srgbClr val="CCD6E0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课程中心 + 实训任务发布/提交</a:t>
            </a:r>
            <a:endParaRPr sz="1400">
              <a:solidFill>
                <a:srgbClr val="CCD6E0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四主体教学智评（学生互评 / 教师 / 企业专家 / AI）</a:t>
            </a:r>
            <a:endParaRPr sz="1400">
              <a:solidFill>
                <a:srgbClr val="CCD6E0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学习资源库（无人机规范 / 应急案例）</a:t>
            </a:r>
            <a:endParaRPr sz="1400">
              <a:solidFill>
                <a:srgbClr val="CCD6E0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系统管理 + 统一登录鉴权</a:t>
            </a:r>
            <a:endParaRPr sz="1400">
              <a:solidFill>
                <a:srgbClr val="CCD6E0"/>
              </a:solidFill>
              <a:latin typeface="PingFang SC"/>
            </a:endParaRPr>
          </a:p>
          <a:p>
            <a:r>
              <a:rPr sz="1400">
                <a:solidFill>
                  <a:srgbClr val="CCD6E0"/>
                </a:solidFill>
                <a:latin typeface="PingFang SC"/>
              </a:rPr>
              <a:t>· AI 助教（浮窗）</a:t>
            </a:r>
            <a:endParaRPr sz="14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2103120" cy="201168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640" y="1554480"/>
            <a:ext cx="73152" cy="201168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76672" y="1664208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路径规划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CVRP 蚁群算法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动态能耗 · 载重-航程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渠洋村案例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98080" y="1554480"/>
            <a:ext cx="2103120" cy="201168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0" y="1554480"/>
            <a:ext cx="73152" cy="201168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1664208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装箱评价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空间利用率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重量平衡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安全评分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875520" y="1554480"/>
            <a:ext cx="2103120" cy="201168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80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875520" y="1554480"/>
            <a:ext cx="73152" cy="2011680"/>
          </a:xfrm>
          <a:prstGeom prst="rect">
            <a:avLst/>
          </a:prstGeom>
          <a:solidFill>
            <a:srgbClr val="80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31552" y="1664208"/>
            <a:ext cx="1792224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课程图谱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知识 / 能力 / 问题 / 思政 四图谱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学习路径推荐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20640" y="3931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9FACB8"/>
                </a:solidFill>
                <a:latin typeface="Menlo" panose="020B0609030804020204"/>
              </a:rPr>
              <a:t>每个智能体：独立前端 + 独立后端 + API 接入平台主系统</a:t>
            </a:r>
            <a:endParaRPr sz="1100" i="1">
              <a:solidFill>
                <a:srgbClr val="9FACB8"/>
              </a:solidFill>
              <a:latin typeface="Menlo" panose="020B060903080402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3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</a:rPr>
              <a:t>核心亮点 · 路径规划智能体</a:t>
            </a:r>
            <a:endParaRPr sz="3200" b="1">
              <a:solidFill>
                <a:srgbClr val="FFFFFF"/>
              </a:solidFill>
              <a:latin typeface="PingFang SC"/>
            </a:endParaRP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E5FF"/>
                </a:solidFill>
                <a:latin typeface="PingFang SC"/>
              </a:rPr>
              <a:t>工程化可运行的 CVRP 求解器</a:t>
            </a:r>
            <a:endParaRPr sz="1300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743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566160" cy="228600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3152" cy="2286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325526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蚁群算法 CVRP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多无人机 · 多趟次 · 带时间窗/优先级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目标函数 = 0.4 距离 + 0.3 能耗 + 0.2 优先级 + 0.1 负载均衡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566160" cy="228600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73152" cy="22860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664208"/>
            <a:ext cx="325526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动态能耗模型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能耗 = 距离 × (1 + 当前载重 / 最大载重)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满载去程能耗是空载返航的 2 倍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载重→航程分段线性插值（0 kg 26 km / 80 kg 6 km）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366760" y="1554480"/>
            <a:ext cx="3566160" cy="228600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80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554480"/>
            <a:ext cx="73152" cy="2286000"/>
          </a:xfrm>
          <a:prstGeom prst="rect">
            <a:avLst/>
          </a:prstGeom>
          <a:solidFill>
            <a:srgbClr val="80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22792" y="1664208"/>
            <a:ext cx="3255264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无人机型号库 + 任务规划 Agent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内置多种无人机参数（FC100 等）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大模型驱动的无人机选型：重量 / 航程 / 抗风 / 冷链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输出完整配送计划 + 可行性评分 + 风险预警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4297680"/>
            <a:ext cx="5303520" cy="4114800"/>
          </a:xfrm>
          <a:prstGeom prst="roundRect">
            <a:avLst/>
          </a:prstGeom>
          <a:solidFill>
            <a:srgbClr val="0A24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297680"/>
            <a:ext cx="73152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587" y="4092448"/>
            <a:ext cx="499262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真实案例：广西渠洋村应急物资配送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配送中心：渠洋村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需求点：怀渠 / 塘麻 / 坡乐 / 东风 / 古桥 / 新和 / 怀书 / 雅力 共 8 个村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距离矩阵：已真实测算（最远村 ~27 km）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物资类别：抢修 / 生活保障 / 医疗 / 冷链 / 安置保障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→ 学生先完成 8 个实训模块（从布点、选机、规划、诊断、报告）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→ AI 自动批改 + 生成 Word 报告 + 导出 GeoJSON 可在地图查看航线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26480" y="3928110"/>
            <a:ext cx="5669280" cy="4114800"/>
          </a:xfrm>
          <a:prstGeom prst="roundRect">
            <a:avLst/>
          </a:prstGeom>
          <a:solidFill>
            <a:srgbClr val="0A2440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97680"/>
            <a:ext cx="73152" cy="4114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4407408"/>
            <a:ext cx="535838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架构 · 单人可开发 · 学校可部署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前端  Vue 3 + Vite + Element Plus + Pinia + ECharts + 地图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后端  Django + REST（路径规划引擎原生 Python）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算法  原生蚁群 / 约束检查器 / 成本评估器 / GeoJSON · Excel 导出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AI    支持 OpenAI / DeepSeek / 通义千问 / 本地模型（可切换）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智能体接入方式：API + 独立 iframe（零耦合）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一键生成实训报告（docx / pdf）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路线：先跑通，再逐步升级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4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743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3152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① 首页驾驶舱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登录 → 看学习/实训/AI 三大数据面板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26280" y="155448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26280" y="1554480"/>
            <a:ext cx="73152" cy="1188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82312" y="166420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② 进路径规划 Agent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模块一布点：渠洋村 + 8 个需求村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549640" y="155448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80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49640" y="1554480"/>
            <a:ext cx="73152" cy="1188720"/>
          </a:xfrm>
          <a:prstGeom prst="rect">
            <a:avLst/>
          </a:prstGeom>
          <a:solidFill>
            <a:srgbClr val="80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05672" y="166420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③ 二-四模块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录入物资需求（重量/优先级/冷链）→ 选无人机 → 跑蚁群算法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306324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73152" cy="1188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17296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④ 方案看地图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GeoJSON 航线 + 每架无人机 / 每趟距离载重能耗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26280" y="306324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26280" y="3063240"/>
            <a:ext cx="73152" cy="11887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82312" y="317296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⑤ AI 诊断 + 报告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AI 点评短板 → 一键导出配送计划报告（docx）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549640" y="3063240"/>
            <a:ext cx="3657600" cy="1188720"/>
          </a:xfrm>
          <a:prstGeom prst="roundRect">
            <a:avLst/>
          </a:prstGeom>
          <a:solidFill>
            <a:srgbClr val="0C1F35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49640" y="3063240"/>
            <a:ext cx="73152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05672" y="3172968"/>
            <a:ext cx="3346704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⑥ 平台闭环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实训提交 → 四主体评价 → 看自己的能力画像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5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PingFang SC"/>
              </a:rPr>
              <a:t>价值主张</a:t>
            </a:r>
            <a:endParaRPr sz="3200" b="1">
              <a:solidFill>
                <a:srgbClr val="FFFFFF"/>
              </a:solidFill>
              <a:latin typeface="PingFang SC"/>
            </a:endParaRP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00E5FF"/>
                </a:solidFill>
                <a:latin typeface="PingFang SC"/>
              </a:rPr>
              <a:t>对学生 · 对老师 · 对专业建设</a:t>
            </a:r>
            <a:endParaRPr sz="1300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60" y="1252728"/>
            <a:ext cx="10972800" cy="2743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3566160" cy="4114800"/>
          </a:xfrm>
          <a:prstGeom prst="roundRect">
            <a:avLst/>
          </a:prstGeom>
          <a:solidFill>
            <a:srgbClr val="0A2440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554480"/>
            <a:ext cx="73152" cy="41148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325526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对学生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不是背公式，是亲手规划真实救灾航线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从菜鸟「随便飞飞」到理解载重-航程非线性关系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输出可就业的作品集（渠洋村案例）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岗课赛证：准备 1+X 无人机物流证书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566160" cy="4114800"/>
          </a:xfrm>
          <a:prstGeom prst="roundRect">
            <a:avLst/>
          </a:prstGeom>
          <a:solidFill>
            <a:srgbClr val="0A2440"/>
          </a:solidFill>
          <a:ln w="1524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411480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664208"/>
            <a:ext cx="325526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对老师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备课素材 = 真实案例 + 真实数据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AI 助教 7×24 答疑 + 批改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四主体评价形成教学闭环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可作为比赛/创新创业项目的底座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75320" y="1554480"/>
            <a:ext cx="3566160" cy="4114800"/>
          </a:xfrm>
          <a:prstGeom prst="roundRect">
            <a:avLst/>
          </a:prstGeom>
          <a:solidFill>
            <a:srgbClr val="0A2440"/>
          </a:solidFill>
          <a:ln w="15240">
            <a:solidFill>
              <a:srgbClr val="80C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554480"/>
            <a:ext cx="73152" cy="4114800"/>
          </a:xfrm>
          <a:prstGeom prst="rect">
            <a:avLst/>
          </a:prstGeom>
          <a:solidFill>
            <a:srgbClr val="80C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1664208"/>
            <a:ext cx="3255264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PingFang SC"/>
              </a:rPr>
              <a:t>对专业</a:t>
            </a:r>
            <a:endParaRPr sz="1600" b="1">
              <a:solidFill>
                <a:srgbClr val="FFFFFF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低空经济 / 应急物流 / 智慧物流 三方向通吃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可扩展：新增集装箱装箱、多旋翼集群、禁飞区 …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可申请教科研项目课题</a:t>
            </a:r>
            <a:endParaRPr sz="1100">
              <a:solidFill>
                <a:srgbClr val="CCD6E0"/>
              </a:solidFill>
              <a:latin typeface="PingFang SC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CCD6E0"/>
                </a:solidFill>
                <a:latin typeface="PingFang SC"/>
              </a:rPr>
              <a:t>· 企业/行业专家可接入指导</a:t>
            </a:r>
            <a:endParaRPr sz="1100">
              <a:solidFill>
                <a:srgbClr val="CCD6E0"/>
              </a:solidFill>
              <a:latin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5760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FF"/>
                </a:solidFill>
                <a:latin typeface="PingFang SC"/>
              </a:rPr>
              <a:t>一句话：让每一个想做无人机物流的学生，有一台「随时可练、随时可评」的教学飞行塔。</a:t>
            </a:r>
            <a:endParaRPr sz="1800" b="1">
              <a:solidFill>
                <a:srgbClr val="00E5FF"/>
              </a:solidFill>
              <a:latin typeface="PingFang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6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PingFang SC"/>
              </a:rPr>
              <a:t>谢谢</a:t>
            </a:r>
            <a:endParaRPr sz="7200" b="1">
              <a:solidFill>
                <a:srgbClr val="FFFFFF"/>
              </a:solidFill>
              <a:latin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00E5FF"/>
                </a:solidFill>
                <a:latin typeface="PingFang SC"/>
              </a:rPr>
              <a:t>提问 · 体验 · 合作开发</a:t>
            </a:r>
            <a:endParaRPr sz="2400">
              <a:solidFill>
                <a:srgbClr val="00E5FF"/>
              </a:solidFill>
              <a:latin typeface="PingFang SC"/>
            </a:endParaRP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CD6E0"/>
                </a:solidFill>
                <a:latin typeface="Menlo" panose="020B0609030804020204"/>
              </a:rPr>
              <a:t>案例：广西渠洋村 8 村应急物资配送</a:t>
            </a:r>
            <a:endParaRPr sz="1400">
              <a:solidFill>
                <a:srgbClr val="CCD6E0"/>
              </a:solidFill>
              <a:latin typeface="Menlo" panose="020B0609030804020204"/>
            </a:endParaRP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CD6E0"/>
                </a:solidFill>
                <a:latin typeface="Menlo" panose="020B0609030804020204"/>
              </a:rPr>
              <a:t>技术栈：Vue 3 · Django · Python 蚁群算法 · LLM</a:t>
            </a:r>
            <a:endParaRPr sz="1400">
              <a:solidFill>
                <a:srgbClr val="CCD6E0"/>
              </a:solidFill>
              <a:latin typeface="Menlo" panose="020B0609030804020204"/>
            </a:endParaRPr>
          </a:p>
          <a:p>
            <a:pPr algn="ctr">
              <a:spcBef>
                <a:spcPts val="1000"/>
              </a:spcBef>
            </a:pPr>
            <a:r>
              <a:rPr sz="1400">
                <a:solidFill>
                  <a:srgbClr val="CCD6E0"/>
                </a:solidFill>
                <a:latin typeface="Menlo" panose="020B0609030804020204"/>
              </a:rPr>
              <a:t>开源友好 · 单人可部署 · 欢迎共建</a:t>
            </a:r>
            <a:endParaRPr sz="1400">
              <a:solidFill>
                <a:srgbClr val="CCD6E0"/>
              </a:solidFill>
              <a:latin typeface="Menlo" panose="020B060903080402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1097280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9FACB8"/>
                </a:solidFill>
                <a:latin typeface="PingFang SC"/>
              </a:rPr>
              <a:t>智慧低空应急运输教学平台 </a:t>
            </a:r>
            <a:endParaRPr sz="1000">
              <a:solidFill>
                <a:srgbClr val="9FACB8"/>
              </a:solidFill>
              <a:latin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094415" y="65105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9FACB8"/>
                </a:solidFill>
                <a:latin typeface="Menlo" panose="020B0609030804020204"/>
              </a:rPr>
              <a:t>7 / 7</a:t>
            </a:r>
            <a:endParaRPr sz="1000">
              <a:solidFill>
                <a:srgbClr val="9FACB8"/>
              </a:solidFill>
              <a:latin typeface="Menlo" panose="020B0609030804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2061</Words>
  <Application>WPS 演示</Application>
  <PresentationFormat>On-screen Show (4:3)</PresentationFormat>
  <Paragraphs>169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5" baseType="lpstr">
      <vt:lpstr>Arial</vt:lpstr>
      <vt:lpstr>宋体</vt:lpstr>
      <vt:lpstr>Wingdings</vt:lpstr>
      <vt:lpstr>Arial</vt:lpstr>
      <vt:lpstr>PingFang SC</vt:lpstr>
      <vt:lpstr>Thonburi</vt:lpstr>
      <vt:lpstr>Menlo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Menlo</vt:lpstr>
      <vt:lpstr>PingFang SC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落笔成花</cp:lastModifiedBy>
  <cp:revision>2</cp:revision>
  <dcterms:created xsi:type="dcterms:W3CDTF">2026-06-10T02:43:34Z</dcterms:created>
  <dcterms:modified xsi:type="dcterms:W3CDTF">2026-06-10T02:43:34Z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0281622DC14BD8CF56CF286A322B9D1E_42</vt:lpwstr>
  </property>
  <property fmtid="{D5CDD505-2E9C-101B-9397-08002B2CF9AE}" pid="3" name="KSOProductBuildVer">
    <vt:lpwstr>2052-12.1.23540.23540</vt:lpwstr>
  </property>
</Properties>
</file>